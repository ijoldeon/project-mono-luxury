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3" r:id="rId9"/>
    <p:sldId id="264" r:id="rId10"/>
    <p:sldId id="262" r:id="rId11"/>
  </p:sldIdLst>
  <p:sldSz cx="12192000" cy="6858000"/>
  <p:notesSz cx="6858000" cy="9144000"/>
  <p:embeddedFontLst>
    <p:embeddedFont>
      <p:font typeface="Noto Sans KR" panose="020B0200000000000000" pitchFamily="50" charset="-127"/>
      <p:regular r:id="rId12"/>
      <p:bold r:id="rId13"/>
    </p:embeddedFont>
    <p:embeddedFont>
      <p:font typeface="맑은 고딕" panose="020B0503020000020004" pitchFamily="50" charset="-127"/>
      <p:regular r:id="rId14"/>
      <p:bold r:id="rId15"/>
    </p:embeddedFont>
    <p:embeddedFont>
      <p:font typeface="Cinzel"/>
      <p:bold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t" initials="i" lastIdx="2" clrIdx="0">
    <p:extLst>
      <p:ext uri="{19B8F6BF-5375-455C-9EA6-DF929625EA0E}">
        <p15:presenceInfo xmlns:p15="http://schemas.microsoft.com/office/powerpoint/2012/main" userId="i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hyperlink" Target="https://ijoldeon.github.io/PROJECT-MONO-LUXURY/" TargetMode="Externa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466725"/>
            <a:ext cx="11258550" cy="5924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4696" y="858483"/>
            <a:ext cx="5553075" cy="5153025"/>
          </a:xfrm>
          <a:prstGeom prst="rect">
            <a:avLst/>
          </a:prstGeom>
          <a:solidFill>
            <a:srgbClr val="111111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71550" y="4298602"/>
            <a:ext cx="866923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81373" y="4298602"/>
            <a:ext cx="1038373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1238250"/>
            <a:ext cx="5019675" cy="5153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5" y="1323975"/>
            <a:ext cx="4848225" cy="49815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9125" y="466725"/>
            <a:ext cx="4417876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ko-KR" altLang="en-US" sz="2100" b="1" dirty="0" err="1" smtClean="0">
                <a:solidFill>
                  <a:srgbClr val="FFFFFF"/>
                </a:solidFill>
                <a:latin typeface="Cinzel"/>
              </a:rPr>
              <a:t>미니멀</a:t>
            </a:r>
            <a:r>
              <a:rPr lang="ko-KR" altLang="en-US" sz="2100" b="1" dirty="0" smtClean="0">
                <a:solidFill>
                  <a:srgbClr val="FFFFFF"/>
                </a:solidFill>
                <a:latin typeface="Cinzel"/>
              </a:rPr>
              <a:t> </a:t>
            </a:r>
            <a:r>
              <a:rPr lang="ko-KR" altLang="en-US" sz="2100" b="1" dirty="0" err="1" smtClean="0">
                <a:solidFill>
                  <a:srgbClr val="FFFFFF"/>
                </a:solidFill>
                <a:latin typeface="Cinzel"/>
              </a:rPr>
              <a:t>럭셔리</a:t>
            </a:r>
            <a:r>
              <a:rPr lang="ko-KR" altLang="en-US" sz="2100" b="1" dirty="0" smtClean="0">
                <a:solidFill>
                  <a:srgbClr val="FFFFFF"/>
                </a:solidFill>
                <a:latin typeface="Cinzel"/>
              </a:rPr>
              <a:t> 패션 쇼핑몰 웹사이트</a:t>
            </a:r>
            <a:endParaRPr lang="en-US" sz="2100" b="1" dirty="0" smtClean="0">
              <a:solidFill>
                <a:srgbClr val="FFFFFF"/>
              </a:solidFill>
              <a:latin typeface="Cinze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160496" y="542925"/>
            <a:ext cx="66845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D4AF37"/>
                </a:solidFill>
                <a:latin typeface="Noto Sans KR"/>
              </a:rPr>
              <a:t>01 / </a:t>
            </a:r>
            <a:r>
              <a:rPr lang="ko-KR" altLang="en-US" sz="1050" dirty="0" smtClean="0">
                <a:solidFill>
                  <a:srgbClr val="D4AF37"/>
                </a:solidFill>
                <a:latin typeface="Noto Sans KR"/>
              </a:rPr>
              <a:t>쇼핑몰</a:t>
            </a:r>
            <a:endParaRPr lang="en-US" altLang="ko-KR" sz="1050" dirty="0" smtClean="0">
              <a:solidFill>
                <a:srgbClr val="D4AF37"/>
              </a:solidFill>
              <a:latin typeface="Noto Sans K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1266" y="1435270"/>
            <a:ext cx="5367109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b="1" dirty="0" smtClean="0">
                <a:solidFill>
                  <a:srgbClr val="D4AF37"/>
                </a:solidFill>
                <a:latin typeface="Noto Sans KR"/>
              </a:rPr>
              <a:t>제작자</a:t>
            </a:r>
            <a:r>
              <a:rPr lang="en-US" altLang="ko-KR" b="1" dirty="0" smtClean="0">
                <a:solidFill>
                  <a:srgbClr val="D4AF37"/>
                </a:solidFill>
                <a:latin typeface="Noto Sans KR"/>
              </a:rPr>
              <a:t>:</a:t>
            </a:r>
            <a:r>
              <a:rPr lang="ko-KR" altLang="en-US" b="1" dirty="0" err="1" smtClean="0">
                <a:solidFill>
                  <a:srgbClr val="D4AF37"/>
                </a:solidFill>
                <a:latin typeface="Noto Sans KR"/>
              </a:rPr>
              <a:t>이성전</a:t>
            </a:r>
            <a:endParaRPr lang="en-US" altLang="ko-KR" b="1" dirty="0" smtClean="0">
              <a:solidFill>
                <a:srgbClr val="D4AF37"/>
              </a:solidFill>
              <a:latin typeface="Noto Sans KR"/>
            </a:endParaRPr>
          </a:p>
          <a:p>
            <a:pPr algn="l"/>
            <a:r>
              <a:rPr lang="ko-KR" altLang="en-US" sz="1800" b="1" i="0" u="none" dirty="0" smtClean="0">
                <a:solidFill>
                  <a:srgbClr val="D4AF37"/>
                </a:solidFill>
                <a:latin typeface="Noto Sans KR"/>
              </a:rPr>
              <a:t>제작기술</a:t>
            </a:r>
            <a:r>
              <a:rPr lang="en-US" altLang="ko-KR" sz="1800" b="1" i="0" u="none" dirty="0" smtClean="0">
                <a:solidFill>
                  <a:srgbClr val="D4AF37"/>
                </a:solidFill>
                <a:latin typeface="Noto Sans KR"/>
              </a:rPr>
              <a:t>:</a:t>
            </a:r>
            <a:r>
              <a:rPr lang="en-US" altLang="ko-KR" sz="1800" b="1" i="0" u="none" dirty="0" err="1" smtClean="0">
                <a:solidFill>
                  <a:srgbClr val="D4AF37"/>
                </a:solidFill>
                <a:latin typeface="Noto Sans KR"/>
              </a:rPr>
              <a:t>HTML,CCS,J</a:t>
            </a:r>
            <a:r>
              <a:rPr lang="en-US" altLang="ko-KR" b="1" dirty="0" err="1" smtClean="0">
                <a:solidFill>
                  <a:srgbClr val="D4AF37"/>
                </a:solidFill>
                <a:latin typeface="Noto Sans KR"/>
              </a:rPr>
              <a:t>avaScript</a:t>
            </a:r>
            <a:endParaRPr lang="en-US" altLang="ko-KR" b="1" dirty="0" smtClean="0">
              <a:solidFill>
                <a:srgbClr val="D4AF37"/>
              </a:solidFill>
              <a:latin typeface="Noto Sans KR"/>
            </a:endParaRPr>
          </a:p>
          <a:p>
            <a:pPr algn="l"/>
            <a:r>
              <a:rPr lang="ko-KR" altLang="en-US" b="1" dirty="0" smtClean="0">
                <a:solidFill>
                  <a:srgbClr val="D4AF37"/>
                </a:solidFill>
                <a:latin typeface="Noto Sans KR"/>
              </a:rPr>
              <a:t>프로젝트 유형 </a:t>
            </a:r>
            <a:r>
              <a:rPr lang="en-US" altLang="ko-KR" b="1" dirty="0" smtClean="0">
                <a:solidFill>
                  <a:srgbClr val="D4AF37"/>
                </a:solidFill>
                <a:latin typeface="Noto Sans KR"/>
              </a:rPr>
              <a:t>:</a:t>
            </a:r>
            <a:r>
              <a:rPr lang="ko-KR" altLang="en-US" b="1" dirty="0" err="1" smtClean="0">
                <a:solidFill>
                  <a:srgbClr val="D4AF37"/>
                </a:solidFill>
                <a:latin typeface="Noto Sans KR"/>
              </a:rPr>
              <a:t>프론트엔드</a:t>
            </a:r>
            <a:r>
              <a:rPr lang="ko-KR" altLang="en-US" b="1" dirty="0" smtClean="0">
                <a:solidFill>
                  <a:srgbClr val="D4AF37"/>
                </a:solidFill>
                <a:latin typeface="Noto Sans KR"/>
              </a:rPr>
              <a:t> 웹사이트 실습</a:t>
            </a:r>
            <a:endParaRPr lang="en-US" altLang="ko-KR" b="1" dirty="0" smtClean="0">
              <a:solidFill>
                <a:srgbClr val="D4AF37"/>
              </a:solidFill>
              <a:latin typeface="Noto Sans KR"/>
            </a:endParaRPr>
          </a:p>
          <a:p>
            <a:pPr algn="l"/>
            <a:r>
              <a:rPr lang="ko-KR" altLang="en-US" sz="1800" b="1" i="0" u="none" dirty="0" smtClean="0">
                <a:solidFill>
                  <a:srgbClr val="D4AF37"/>
                </a:solidFill>
                <a:latin typeface="Noto Sans KR"/>
              </a:rPr>
              <a:t>프로젝트 목적 </a:t>
            </a:r>
            <a:r>
              <a:rPr lang="en-US" altLang="ko-KR" sz="1800" b="1" i="0" u="none" dirty="0" smtClean="0">
                <a:solidFill>
                  <a:srgbClr val="D4AF37"/>
                </a:solidFill>
                <a:latin typeface="Noto Sans KR"/>
              </a:rPr>
              <a:t>: </a:t>
            </a:r>
            <a:r>
              <a:rPr lang="ko-KR" altLang="en-US" b="1" dirty="0" smtClean="0">
                <a:solidFill>
                  <a:srgbClr val="D4AF37"/>
                </a:solidFill>
                <a:latin typeface="Noto Sans KR"/>
              </a:rPr>
              <a:t>상품 탐색부터 장바구니</a:t>
            </a:r>
            <a:r>
              <a:rPr lang="en-US" altLang="ko-KR" b="1" dirty="0" smtClean="0">
                <a:solidFill>
                  <a:srgbClr val="D4AF37"/>
                </a:solidFill>
                <a:latin typeface="Noto Sans KR"/>
              </a:rPr>
              <a:t>,</a:t>
            </a:r>
            <a:r>
              <a:rPr lang="ko-KR" altLang="en-US" b="1" dirty="0" smtClean="0">
                <a:solidFill>
                  <a:srgbClr val="D4AF37"/>
                </a:solidFill>
                <a:latin typeface="Noto Sans KR"/>
              </a:rPr>
              <a:t>주문 완료까지</a:t>
            </a:r>
            <a:endParaRPr lang="en-US" altLang="ko-KR" b="1" dirty="0" smtClean="0">
              <a:solidFill>
                <a:srgbClr val="D4AF37"/>
              </a:solidFill>
              <a:latin typeface="Noto Sans KR"/>
            </a:endParaRPr>
          </a:p>
          <a:p>
            <a:pPr algn="l"/>
            <a:r>
              <a:rPr lang="ko-KR" altLang="en-US" sz="1800" b="1" i="0" u="none" dirty="0" smtClean="0">
                <a:solidFill>
                  <a:srgbClr val="D4AF37"/>
                </a:solidFill>
                <a:latin typeface="Noto Sans KR"/>
              </a:rPr>
              <a:t>이어지는 쇼핑몰 웹사이트 제작</a:t>
            </a:r>
            <a:endParaRPr lang="en-US" altLang="ko-KR" sz="1800" b="1" i="0" u="none" dirty="0" smtClean="0">
              <a:solidFill>
                <a:srgbClr val="D4AF37"/>
              </a:solidFill>
              <a:latin typeface="Noto Sans K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1266" y="3445323"/>
            <a:ext cx="5367109" cy="23852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ko-KR" altLang="en-US" sz="3000" dirty="0" smtClean="0">
                <a:solidFill>
                  <a:srgbClr val="CCCCCC"/>
                </a:solidFill>
                <a:latin typeface="Noto Sans KR"/>
              </a:rPr>
              <a:t>프로젝트소개</a:t>
            </a:r>
            <a:endParaRPr lang="en-US" altLang="ko-KR" sz="3000" dirty="0" smtClean="0">
              <a:solidFill>
                <a:srgbClr val="CCCCCC"/>
              </a:solidFill>
              <a:latin typeface="Noto Sans KR"/>
            </a:endParaRPr>
          </a:p>
          <a:p>
            <a:r>
              <a:rPr lang="en-US" altLang="ko-KR" sz="2000" dirty="0">
                <a:solidFill>
                  <a:schemeClr val="bg1"/>
                </a:solidFill>
              </a:rPr>
              <a:t>MONO</a:t>
            </a:r>
            <a:r>
              <a:rPr lang="ko-KR" altLang="en-US" sz="2000" dirty="0">
                <a:solidFill>
                  <a:schemeClr val="bg1"/>
                </a:solidFill>
              </a:rPr>
              <a:t>는 심플하면서도 고급스러운 디자인을 추구하는 가상의 패션 브랜드입니다</a:t>
            </a:r>
            <a:r>
              <a:rPr lang="en-US" altLang="ko-KR" sz="2000" dirty="0">
                <a:solidFill>
                  <a:schemeClr val="bg1"/>
                </a:solidFill>
              </a:rPr>
              <a:t>.</a:t>
            </a:r>
          </a:p>
          <a:p>
            <a:r>
              <a:rPr lang="ko-KR" altLang="en-US" sz="2000" dirty="0">
                <a:solidFill>
                  <a:schemeClr val="bg1"/>
                </a:solidFill>
              </a:rPr>
              <a:t>사용자가 상품을 둘러보고</a:t>
            </a:r>
            <a:r>
              <a:rPr lang="en-US" altLang="ko-KR" sz="2000" dirty="0">
                <a:solidFill>
                  <a:schemeClr val="bg1"/>
                </a:solidFill>
              </a:rPr>
              <a:t>, </a:t>
            </a:r>
            <a:r>
              <a:rPr lang="ko-KR" altLang="en-US" sz="2000" dirty="0">
                <a:solidFill>
                  <a:schemeClr val="bg1"/>
                </a:solidFill>
              </a:rPr>
              <a:t>원하는 상품을 선택한 뒤 장바구니와 연습용 주문 과정을 경험할 수 있도록 제작했습니다</a:t>
            </a:r>
            <a:r>
              <a:rPr lang="en-US" altLang="ko-KR" sz="1300" dirty="0">
                <a:solidFill>
                  <a:schemeClr val="bg1"/>
                </a:solidFill>
              </a:rPr>
              <a:t>.</a:t>
            </a:r>
          </a:p>
          <a:p>
            <a:pPr algn="l">
              <a:lnSpc>
                <a:spcPts val="2160"/>
              </a:lnSpc>
            </a:pPr>
            <a:endParaRPr lang="en-US" altLang="ko-KR" sz="3000" dirty="0" smtClean="0">
              <a:solidFill>
                <a:srgbClr val="CCCCCC"/>
              </a:solidFill>
              <a:latin typeface="Noto Sans KR"/>
            </a:endParaRPr>
          </a:p>
          <a:p>
            <a:pPr algn="l">
              <a:lnSpc>
                <a:spcPts val="2160"/>
              </a:lnSpc>
            </a:pPr>
            <a:endParaRPr sz="3000" b="0" i="0" u="none" dirty="0">
              <a:solidFill>
                <a:srgbClr val="CCCCCC"/>
              </a:solidFill>
              <a:latin typeface="Noto Sans K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72225" y="1238250"/>
            <a:ext cx="5200650" cy="2481262"/>
          </a:xfrm>
          <a:prstGeom prst="rect">
            <a:avLst/>
          </a:prstGeom>
          <a:solidFill>
            <a:srgbClr val="141414"/>
          </a:solidFill>
          <a:ln w="9525">
            <a:solidFill>
              <a:srgbClr val="5D4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372225" y="3910011"/>
            <a:ext cx="5200650" cy="2345645"/>
          </a:xfrm>
          <a:prstGeom prst="rect">
            <a:avLst/>
          </a:prstGeom>
          <a:solidFill>
            <a:srgbClr val="141414"/>
          </a:solidFill>
          <a:ln w="9525">
            <a:solidFill>
              <a:srgbClr val="5D4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238250"/>
            <a:ext cx="5372100" cy="5153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125" y="466725"/>
            <a:ext cx="6498574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ko-KR" altLang="en-US" sz="2100" b="1" dirty="0" smtClean="0">
                <a:solidFill>
                  <a:srgbClr val="FFFFFF"/>
                </a:solidFill>
                <a:latin typeface="Cinzel"/>
              </a:rPr>
              <a:t>프로젝트 제작 목적</a:t>
            </a:r>
            <a:r>
              <a:rPr lang="en-US" altLang="ko-KR" sz="2100" b="1" dirty="0" smtClean="0">
                <a:solidFill>
                  <a:srgbClr val="FFFFFF"/>
                </a:solidFill>
                <a:latin typeface="Cinzel"/>
              </a:rPr>
              <a:t>: </a:t>
            </a:r>
            <a:r>
              <a:rPr lang="ko-KR" altLang="en-US" sz="2100" b="1" dirty="0" smtClean="0">
                <a:solidFill>
                  <a:srgbClr val="FFFFFF"/>
                </a:solidFill>
                <a:latin typeface="Cinzel"/>
              </a:rPr>
              <a:t>왜 </a:t>
            </a:r>
            <a:r>
              <a:rPr lang="en-US" altLang="ko-KR" sz="2100" b="1" dirty="0" smtClean="0">
                <a:solidFill>
                  <a:srgbClr val="FFFFFF"/>
                </a:solidFill>
                <a:latin typeface="Cinzel"/>
              </a:rPr>
              <a:t>MONO </a:t>
            </a:r>
            <a:r>
              <a:rPr lang="ko-KR" altLang="en-US" sz="2100" b="1" dirty="0" smtClean="0">
                <a:solidFill>
                  <a:srgbClr val="FFFFFF"/>
                </a:solidFill>
                <a:latin typeface="Cinzel"/>
              </a:rPr>
              <a:t>쇼핑몰을 만들었는가</a:t>
            </a:r>
            <a:r>
              <a:rPr lang="en-US" altLang="ko-KR" sz="2100" b="1" dirty="0" smtClean="0">
                <a:solidFill>
                  <a:srgbClr val="FFFFFF"/>
                </a:solidFill>
                <a:latin typeface="Cinzel"/>
              </a:rPr>
              <a:t>?</a:t>
            </a:r>
            <a:endParaRPr sz="2100" b="1" i="0" u="none" dirty="0">
              <a:solidFill>
                <a:srgbClr val="FFFFFF"/>
              </a:solidFill>
              <a:latin typeface="Cinze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75527" y="542925"/>
            <a:ext cx="123110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D4AF37"/>
                </a:solidFill>
                <a:latin typeface="Noto Sans KR"/>
              </a:rPr>
              <a:t>02 / </a:t>
            </a:r>
            <a:r>
              <a:rPr lang="ko-KR" altLang="en-US" sz="1050" dirty="0" smtClean="0">
                <a:solidFill>
                  <a:srgbClr val="D4AF37"/>
                </a:solidFill>
                <a:latin typeface="Noto Sans KR"/>
              </a:rPr>
              <a:t>왜</a:t>
            </a:r>
            <a:r>
              <a:rPr lang="en-US" altLang="ko-KR" sz="1050" dirty="0" smtClean="0">
                <a:solidFill>
                  <a:srgbClr val="D4AF37"/>
                </a:solidFill>
                <a:latin typeface="Noto Sans KR"/>
              </a:rPr>
              <a:t>? </a:t>
            </a:r>
            <a:r>
              <a:rPr lang="ko-KR" altLang="en-US" sz="1050" dirty="0" smtClean="0">
                <a:solidFill>
                  <a:srgbClr val="D4AF37"/>
                </a:solidFill>
                <a:latin typeface="Noto Sans KR"/>
              </a:rPr>
              <a:t>만들었는가</a:t>
            </a:r>
            <a:r>
              <a:rPr lang="en-US" altLang="ko-KR" sz="1050" dirty="0" smtClean="0">
                <a:solidFill>
                  <a:srgbClr val="D4AF37"/>
                </a:solidFill>
                <a:latin typeface="Noto Sans KR"/>
              </a:rPr>
              <a:t>?</a:t>
            </a:r>
            <a:endParaRPr sz="1050" b="0" i="0" u="none" dirty="0">
              <a:solidFill>
                <a:srgbClr val="D4AF37"/>
              </a:solidFill>
              <a:latin typeface="Noto Sans K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4236" y="1326464"/>
            <a:ext cx="4982133" cy="6924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500" b="1" dirty="0" err="1" smtClean="0">
                <a:solidFill>
                  <a:srgbClr val="D4AF37"/>
                </a:solidFill>
                <a:latin typeface="Noto Sans KR"/>
              </a:rPr>
              <a:t>HTML.CSS,JavaScript</a:t>
            </a:r>
            <a:r>
              <a:rPr lang="en-US" sz="1500" b="1" dirty="0" smtClean="0">
                <a:solidFill>
                  <a:srgbClr val="D4AF37"/>
                </a:solidFill>
                <a:latin typeface="Noto Sans KR"/>
              </a:rPr>
              <a:t> </a:t>
            </a:r>
            <a:r>
              <a:rPr lang="ko-KR" altLang="en-US" sz="1500" b="1" dirty="0" smtClean="0">
                <a:solidFill>
                  <a:srgbClr val="D4AF37"/>
                </a:solidFill>
                <a:latin typeface="Noto Sans KR"/>
              </a:rPr>
              <a:t>를 학습하면서 </a:t>
            </a:r>
            <a:r>
              <a:rPr lang="ko-KR" altLang="en-US" sz="1500" b="1" dirty="0" err="1" smtClean="0">
                <a:solidFill>
                  <a:srgbClr val="D4AF37"/>
                </a:solidFill>
                <a:latin typeface="Noto Sans KR"/>
              </a:rPr>
              <a:t>기슬</a:t>
            </a:r>
            <a:r>
              <a:rPr lang="ko-KR" altLang="en-US" sz="1500" b="1" dirty="0" smtClean="0">
                <a:solidFill>
                  <a:srgbClr val="D4AF37"/>
                </a:solidFill>
                <a:latin typeface="Noto Sans KR"/>
              </a:rPr>
              <a:t> 하나의 </a:t>
            </a:r>
            <a:endParaRPr lang="en-US" altLang="ko-KR" sz="1500" b="1" dirty="0" smtClean="0">
              <a:solidFill>
                <a:srgbClr val="D4AF37"/>
              </a:solidFill>
              <a:latin typeface="Noto Sans KR"/>
            </a:endParaRPr>
          </a:p>
          <a:p>
            <a:pPr algn="l"/>
            <a:r>
              <a:rPr lang="ko-KR" altLang="en-US" sz="1500" b="1" i="0" u="none" dirty="0" smtClean="0">
                <a:solidFill>
                  <a:srgbClr val="D4AF37"/>
                </a:solidFill>
                <a:latin typeface="Noto Sans KR"/>
              </a:rPr>
              <a:t>웹사이트에 적용 해보 </a:t>
            </a:r>
            <a:r>
              <a:rPr lang="ko-KR" altLang="en-US" sz="1500" b="1" i="0" u="none" dirty="0" err="1" smtClean="0">
                <a:solidFill>
                  <a:srgbClr val="D4AF37"/>
                </a:solidFill>
                <a:latin typeface="Noto Sans KR"/>
              </a:rPr>
              <a:t>고싶었고</a:t>
            </a:r>
            <a:r>
              <a:rPr lang="en-US" altLang="ko-KR" sz="1500" b="1" i="0" u="none" dirty="0" smtClean="0">
                <a:solidFill>
                  <a:srgbClr val="D4AF37"/>
                </a:solidFill>
                <a:latin typeface="Noto Sans KR"/>
              </a:rPr>
              <a:t>, </a:t>
            </a:r>
            <a:r>
              <a:rPr lang="ko-KR" altLang="en-US" sz="1500" b="1" i="0" u="none" dirty="0" smtClean="0">
                <a:solidFill>
                  <a:srgbClr val="D4AF37"/>
                </a:solidFill>
                <a:latin typeface="Noto Sans KR"/>
              </a:rPr>
              <a:t>그리고 수업을 배우면 쇼핑</a:t>
            </a:r>
            <a:endParaRPr lang="en-US" altLang="ko-KR" sz="1500" b="1" i="0" u="none" dirty="0" smtClean="0">
              <a:solidFill>
                <a:srgbClr val="D4AF37"/>
              </a:solidFill>
              <a:latin typeface="Noto Sans KR"/>
            </a:endParaRPr>
          </a:p>
          <a:p>
            <a:pPr algn="l"/>
            <a:r>
              <a:rPr lang="ko-KR" altLang="en-US" sz="1500" b="1" dirty="0" smtClean="0">
                <a:solidFill>
                  <a:srgbClr val="D4AF37"/>
                </a:solidFill>
                <a:latin typeface="Noto Sans KR"/>
              </a:rPr>
              <a:t>웹사이트를 하나 만들어봐야지 하고 생각 하고 </a:t>
            </a:r>
            <a:r>
              <a:rPr lang="ko-KR" altLang="en-US" sz="1500" b="1" dirty="0" err="1" smtClean="0">
                <a:solidFill>
                  <a:srgbClr val="D4AF37"/>
                </a:solidFill>
                <a:latin typeface="Noto Sans KR"/>
              </a:rPr>
              <a:t>있엇</a:t>
            </a:r>
            <a:r>
              <a:rPr lang="ko-KR" altLang="en-US" sz="1500" b="1" dirty="0" smtClean="0">
                <a:solidFill>
                  <a:srgbClr val="D4AF37"/>
                </a:solidFill>
                <a:latin typeface="Noto Sans KR"/>
              </a:rPr>
              <a:t> 습니다</a:t>
            </a:r>
            <a:endParaRPr sz="1500" b="1" i="0" u="none" dirty="0">
              <a:solidFill>
                <a:srgbClr val="D4AF37"/>
              </a:solidFill>
              <a:latin typeface="Noto Sans K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72225" y="2535918"/>
            <a:ext cx="5819775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600" b="1" dirty="0">
                <a:solidFill>
                  <a:schemeClr val="bg1"/>
                </a:solidFill>
              </a:rPr>
              <a:t>주요 사용자</a:t>
            </a:r>
            <a:endParaRPr lang="ko-KR" altLang="en-US" sz="1600" dirty="0">
              <a:solidFill>
                <a:schemeClr val="bg1"/>
              </a:solidFill>
            </a:endParaRPr>
          </a:p>
          <a:p>
            <a:r>
              <a:rPr lang="en-US" altLang="ko-KR" sz="1600" dirty="0" smtClean="0">
                <a:solidFill>
                  <a:schemeClr val="bg1"/>
                </a:solidFill>
              </a:rPr>
              <a:t>1 . </a:t>
            </a:r>
            <a:r>
              <a:rPr lang="ko-KR" altLang="en-US" sz="1600" dirty="0" smtClean="0">
                <a:solidFill>
                  <a:schemeClr val="bg1"/>
                </a:solidFill>
              </a:rPr>
              <a:t>온라인으로 </a:t>
            </a:r>
            <a:r>
              <a:rPr lang="ko-KR" altLang="en-US" sz="1600" dirty="0">
                <a:solidFill>
                  <a:schemeClr val="bg1"/>
                </a:solidFill>
              </a:rPr>
              <a:t>패션 상품을 둘러보는 사용자</a:t>
            </a:r>
          </a:p>
          <a:p>
            <a:r>
              <a:rPr lang="en-US" altLang="ko-KR" sz="1600" dirty="0" smtClean="0">
                <a:solidFill>
                  <a:schemeClr val="bg1"/>
                </a:solidFill>
              </a:rPr>
              <a:t>2.  </a:t>
            </a:r>
            <a:r>
              <a:rPr lang="ko-KR" altLang="en-US" sz="1600" dirty="0" smtClean="0">
                <a:solidFill>
                  <a:schemeClr val="bg1"/>
                </a:solidFill>
              </a:rPr>
              <a:t>상품 </a:t>
            </a:r>
            <a:r>
              <a:rPr lang="ko-KR" altLang="en-US" sz="1600" dirty="0">
                <a:solidFill>
                  <a:schemeClr val="bg1"/>
                </a:solidFill>
              </a:rPr>
              <a:t>정보를 확인하고 구매 과정을 경험하고 싶은 사용자</a:t>
            </a:r>
          </a:p>
          <a:p>
            <a:r>
              <a:rPr lang="en-US" altLang="ko-KR" sz="1600" dirty="0" smtClean="0">
                <a:solidFill>
                  <a:schemeClr val="bg1"/>
                </a:solidFill>
              </a:rPr>
              <a:t>3 . </a:t>
            </a:r>
            <a:r>
              <a:rPr lang="ko-KR" altLang="en-US" sz="1600" dirty="0" smtClean="0">
                <a:solidFill>
                  <a:schemeClr val="bg1"/>
                </a:solidFill>
              </a:rPr>
              <a:t>깔끔하고 </a:t>
            </a:r>
            <a:r>
              <a:rPr lang="ko-KR" altLang="en-US" sz="1600" dirty="0">
                <a:solidFill>
                  <a:schemeClr val="bg1"/>
                </a:solidFill>
              </a:rPr>
              <a:t>고급스러운 쇼핑몰 디자인을 선호하는 사용자</a:t>
            </a:r>
          </a:p>
          <a:p>
            <a:pPr algn="l"/>
            <a:endParaRPr sz="1600" b="0" i="0" u="none" dirty="0">
              <a:solidFill>
                <a:schemeClr val="bg1"/>
              </a:solidFill>
              <a:latin typeface="Noto Sans K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72225" y="4032820"/>
            <a:ext cx="5819775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600" b="1" dirty="0">
                <a:solidFill>
                  <a:schemeClr val="bg1"/>
                </a:solidFill>
              </a:rPr>
              <a:t>제작 목표</a:t>
            </a:r>
            <a:endParaRPr lang="ko-KR" altLang="en-US" sz="1600" dirty="0">
              <a:solidFill>
                <a:schemeClr val="bg1"/>
              </a:solidFill>
            </a:endParaRPr>
          </a:p>
          <a:p>
            <a:r>
              <a:rPr lang="en-US" altLang="ko-KR" sz="1600" dirty="0" smtClean="0">
                <a:solidFill>
                  <a:schemeClr val="bg1"/>
                </a:solidFill>
              </a:rPr>
              <a:t>1 . </a:t>
            </a:r>
            <a:r>
              <a:rPr lang="ko-KR" altLang="en-US" sz="1600" dirty="0" smtClean="0">
                <a:solidFill>
                  <a:schemeClr val="bg1"/>
                </a:solidFill>
              </a:rPr>
              <a:t>브랜드 </a:t>
            </a:r>
            <a:r>
              <a:rPr lang="ko-KR" altLang="en-US" sz="1600" dirty="0">
                <a:solidFill>
                  <a:schemeClr val="bg1"/>
                </a:solidFill>
              </a:rPr>
              <a:t>콘셉트에 맞는 웹 디자인 구성</a:t>
            </a:r>
          </a:p>
          <a:p>
            <a:r>
              <a:rPr lang="en-US" altLang="ko-KR" sz="1600" dirty="0" smtClean="0">
                <a:solidFill>
                  <a:schemeClr val="bg1"/>
                </a:solidFill>
              </a:rPr>
              <a:t>2 . </a:t>
            </a:r>
            <a:r>
              <a:rPr lang="ko-KR" altLang="en-US" sz="1600" dirty="0" smtClean="0">
                <a:solidFill>
                  <a:schemeClr val="bg1"/>
                </a:solidFill>
              </a:rPr>
              <a:t>상품 </a:t>
            </a:r>
            <a:r>
              <a:rPr lang="ko-KR" altLang="en-US" sz="1600" dirty="0">
                <a:solidFill>
                  <a:schemeClr val="bg1"/>
                </a:solidFill>
              </a:rPr>
              <a:t>목록과 상세 페이지 연결</a:t>
            </a:r>
          </a:p>
          <a:p>
            <a:r>
              <a:rPr lang="en-US" altLang="ko-KR" sz="1600" dirty="0" smtClean="0">
                <a:solidFill>
                  <a:schemeClr val="bg1"/>
                </a:solidFill>
              </a:rPr>
              <a:t>3 . </a:t>
            </a:r>
            <a:r>
              <a:rPr lang="ko-KR" altLang="en-US" sz="1600" dirty="0" smtClean="0">
                <a:solidFill>
                  <a:schemeClr val="bg1"/>
                </a:solidFill>
              </a:rPr>
              <a:t>장바구니 </a:t>
            </a:r>
            <a:r>
              <a:rPr lang="ko-KR" altLang="en-US" sz="1600" dirty="0">
                <a:solidFill>
                  <a:schemeClr val="bg1"/>
                </a:solidFill>
              </a:rPr>
              <a:t>기능 구현</a:t>
            </a:r>
          </a:p>
          <a:p>
            <a:r>
              <a:rPr lang="en-US" altLang="ko-KR" sz="1600" dirty="0" smtClean="0">
                <a:solidFill>
                  <a:schemeClr val="bg1"/>
                </a:solidFill>
              </a:rPr>
              <a:t>4 . </a:t>
            </a:r>
            <a:r>
              <a:rPr lang="ko-KR" altLang="en-US" sz="1600" dirty="0" smtClean="0">
                <a:solidFill>
                  <a:schemeClr val="bg1"/>
                </a:solidFill>
              </a:rPr>
              <a:t>연습용 </a:t>
            </a:r>
            <a:r>
              <a:rPr lang="ko-KR" altLang="en-US" sz="1600" dirty="0">
                <a:solidFill>
                  <a:schemeClr val="bg1"/>
                </a:solidFill>
              </a:rPr>
              <a:t>주문 및 완료 페이지 구현</a:t>
            </a:r>
          </a:p>
          <a:p>
            <a:r>
              <a:rPr lang="en-US" altLang="ko-KR" sz="1600" dirty="0" smtClean="0">
                <a:solidFill>
                  <a:schemeClr val="bg1"/>
                </a:solidFill>
              </a:rPr>
              <a:t>5 . PC</a:t>
            </a:r>
            <a:r>
              <a:rPr lang="ko-KR" altLang="en-US" sz="1600" dirty="0">
                <a:solidFill>
                  <a:schemeClr val="bg1"/>
                </a:solidFill>
              </a:rPr>
              <a:t>와 모바일 환경에 대응하는 </a:t>
            </a:r>
            <a:r>
              <a:rPr lang="ko-KR" altLang="en-US" sz="1600" dirty="0" err="1">
                <a:solidFill>
                  <a:schemeClr val="bg1"/>
                </a:solidFill>
              </a:rPr>
              <a:t>반응형</a:t>
            </a:r>
            <a:r>
              <a:rPr lang="ko-KR" altLang="en-US" sz="1600" dirty="0">
                <a:solidFill>
                  <a:schemeClr val="bg1"/>
                </a:solidFill>
              </a:rPr>
              <a:t> 화면 제작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2225" y="5605903"/>
            <a:ext cx="5006179" cy="9233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500" b="1" dirty="0">
                <a:solidFill>
                  <a:schemeClr val="bg1"/>
                </a:solidFill>
              </a:rPr>
              <a:t>핵심 목표</a:t>
            </a:r>
            <a:endParaRPr lang="ko-KR" altLang="en-US" sz="1500" dirty="0">
              <a:solidFill>
                <a:schemeClr val="bg1"/>
              </a:solidFill>
            </a:endParaRPr>
          </a:p>
          <a:p>
            <a:r>
              <a:rPr lang="ko-KR" altLang="en-US" sz="1500" dirty="0">
                <a:solidFill>
                  <a:schemeClr val="bg1"/>
                </a:solidFill>
              </a:rPr>
              <a:t>단순한 웹 화면 제작을 넘어 실제 쇼핑몰의 기본적인 사용자 </a:t>
            </a:r>
            <a:endParaRPr lang="en-US" altLang="ko-KR" sz="1500" dirty="0" smtClean="0">
              <a:solidFill>
                <a:schemeClr val="bg1"/>
              </a:solidFill>
            </a:endParaRPr>
          </a:p>
          <a:p>
            <a:r>
              <a:rPr lang="ko-KR" altLang="en-US" sz="1500" dirty="0" smtClean="0">
                <a:solidFill>
                  <a:schemeClr val="bg1"/>
                </a:solidFill>
              </a:rPr>
              <a:t>흐름을 </a:t>
            </a:r>
            <a:r>
              <a:rPr lang="ko-KR" altLang="en-US" sz="1500" dirty="0">
                <a:solidFill>
                  <a:schemeClr val="bg1"/>
                </a:solidFill>
              </a:rPr>
              <a:t>구현하는 것입니다</a:t>
            </a:r>
            <a:r>
              <a:rPr lang="en-US" altLang="ko-KR" sz="1500" dirty="0">
                <a:solidFill>
                  <a:schemeClr val="bg1"/>
                </a:solidFill>
              </a:rPr>
              <a:t>.</a:t>
            </a:r>
          </a:p>
          <a:p>
            <a:pPr algn="l"/>
            <a:endParaRPr sz="1500" b="0" i="0" u="none" dirty="0">
              <a:solidFill>
                <a:schemeClr val="bg1"/>
              </a:solidFill>
              <a:latin typeface="Noto Sans KR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1238250"/>
            <a:ext cx="5372099" cy="5153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9431" y="4918533"/>
            <a:ext cx="11552912" cy="1724025"/>
          </a:xfrm>
          <a:prstGeom prst="rect">
            <a:avLst/>
          </a:prstGeom>
          <a:solidFill>
            <a:srgbClr val="141414"/>
          </a:solidFill>
          <a:ln w="9525">
            <a:solidFill>
              <a:srgbClr val="715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24668" y="1048204"/>
            <a:ext cx="11333955" cy="3612015"/>
          </a:xfrm>
          <a:prstGeom prst="rect">
            <a:avLst/>
          </a:prstGeom>
          <a:solidFill>
            <a:srgbClr val="17150F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83" y="1145494"/>
            <a:ext cx="237083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06" y="4888819"/>
            <a:ext cx="237083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9125" y="466725"/>
            <a:ext cx="2249014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ko-KR" altLang="en-US" sz="2100" b="1" dirty="0" smtClean="0">
                <a:solidFill>
                  <a:srgbClr val="FFFFFF"/>
                </a:solidFill>
                <a:latin typeface="Cinzel"/>
              </a:rPr>
              <a:t>웹사이트 화면구성</a:t>
            </a:r>
            <a:endParaRPr sz="2100" b="1" i="0" u="none" dirty="0">
              <a:solidFill>
                <a:srgbClr val="FFFFFF"/>
              </a:solidFill>
              <a:latin typeface="Cinze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09898" y="542925"/>
            <a:ext cx="80310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D4AF37"/>
                </a:solidFill>
                <a:latin typeface="Noto Sans KR"/>
              </a:rPr>
              <a:t>03 / </a:t>
            </a:r>
            <a:r>
              <a:rPr lang="ko-KR" altLang="en-US" sz="1050" dirty="0" smtClean="0">
                <a:solidFill>
                  <a:srgbClr val="D4AF37"/>
                </a:solidFill>
                <a:latin typeface="Noto Sans KR"/>
              </a:rPr>
              <a:t>웹사이트</a:t>
            </a:r>
            <a:endParaRPr sz="1050" b="0" i="0" u="none" dirty="0">
              <a:solidFill>
                <a:srgbClr val="D4AF37"/>
              </a:solidFill>
              <a:latin typeface="Noto Sans K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9431" y="1407372"/>
            <a:ext cx="11319518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altLang="en-US" sz="1500" b="1" i="0" u="none" dirty="0" smtClean="0">
                <a:solidFill>
                  <a:srgbClr val="FFFFFF"/>
                </a:solidFill>
                <a:latin typeface="Noto Sans KR"/>
              </a:rPr>
              <a:t>총</a:t>
            </a:r>
            <a:r>
              <a:rPr lang="en-US" altLang="ko-KR" sz="1500" b="1" i="0" u="none" dirty="0" smtClean="0">
                <a:solidFill>
                  <a:srgbClr val="FFFFFF"/>
                </a:solidFill>
                <a:latin typeface="Noto Sans KR"/>
              </a:rPr>
              <a:t>5</a:t>
            </a:r>
            <a:r>
              <a:rPr lang="ko-KR" altLang="en-US" sz="1500" b="1" i="0" u="none" dirty="0" smtClean="0">
                <a:solidFill>
                  <a:srgbClr val="FFFFFF"/>
                </a:solidFill>
                <a:latin typeface="Noto Sans KR"/>
              </a:rPr>
              <a:t>개의 페이지로 구성하였습니다</a:t>
            </a:r>
            <a:endParaRPr lang="en-US" altLang="ko-KR" sz="1500" b="1" i="0" u="none" dirty="0" smtClean="0">
              <a:solidFill>
                <a:srgbClr val="FFFFFF"/>
              </a:solidFill>
              <a:latin typeface="Noto Sans KR"/>
            </a:endParaRPr>
          </a:p>
          <a:p>
            <a:pPr algn="ctr"/>
            <a:endParaRPr sz="1500" b="1" i="0" u="none" dirty="0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6509" y="5270467"/>
            <a:ext cx="10150269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ko-KR" altLang="en-US" sz="2000" dirty="0" smtClean="0">
                <a:solidFill>
                  <a:srgbClr val="AAAAAA"/>
                </a:solidFill>
                <a:latin typeface="Noto Sans KR"/>
              </a:rPr>
              <a:t>사용자이용흐름</a:t>
            </a:r>
            <a:endParaRPr lang="en-US" altLang="ko-KR" sz="2000" dirty="0" smtClean="0">
              <a:solidFill>
                <a:srgbClr val="AAAAAA"/>
              </a:solidFill>
              <a:latin typeface="Noto Sans KR"/>
            </a:endParaRPr>
          </a:p>
          <a:p>
            <a:pPr algn="ctr">
              <a:lnSpc>
                <a:spcPts val="1800"/>
              </a:lnSpc>
            </a:pPr>
            <a:endParaRPr lang="en-US" altLang="ko-KR" sz="2000" dirty="0" smtClean="0">
              <a:solidFill>
                <a:srgbClr val="AAAAAA"/>
              </a:solidFill>
              <a:latin typeface="Noto Sans KR"/>
            </a:endParaRPr>
          </a:p>
          <a:p>
            <a:pPr algn="ctr">
              <a:lnSpc>
                <a:spcPts val="1800"/>
              </a:lnSpc>
            </a:pPr>
            <a:r>
              <a:rPr lang="ko-KR" altLang="en-US" sz="2000" dirty="0">
                <a:solidFill>
                  <a:schemeClr val="bg1"/>
                </a:solidFill>
              </a:rPr>
              <a:t>메인 화면 → 상품 선택 → 상품 상세 → 장바구니 → 주문 정보 입력 → </a:t>
            </a:r>
            <a:r>
              <a:rPr lang="ko-KR" altLang="en-US" sz="2000" dirty="0" smtClean="0">
                <a:solidFill>
                  <a:schemeClr val="bg1"/>
                </a:solidFill>
              </a:rPr>
              <a:t>주문</a:t>
            </a:r>
            <a:r>
              <a:rPr lang="ko-KR" altLang="en-US" sz="2000" dirty="0">
                <a:solidFill>
                  <a:schemeClr val="bg1"/>
                </a:solidFill>
              </a:rPr>
              <a:t>완료</a:t>
            </a:r>
          </a:p>
          <a:p>
            <a:pPr algn="ctr">
              <a:lnSpc>
                <a:spcPts val="1800"/>
              </a:lnSpc>
            </a:pPr>
            <a:endParaRPr sz="2000" b="0" i="0" u="none" dirty="0">
              <a:solidFill>
                <a:srgbClr val="AAAAAA"/>
              </a:solidFill>
              <a:latin typeface="Noto Sans KR"/>
            </a:endParaRPr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844094"/>
              </p:ext>
            </p:extLst>
          </p:nvPr>
        </p:nvGraphicFramePr>
        <p:xfrm>
          <a:off x="524667" y="2420904"/>
          <a:ext cx="11333955" cy="2194560"/>
        </p:xfrm>
        <a:graphic>
          <a:graphicData uri="http://schemas.openxmlformats.org/drawingml/2006/table">
            <a:tbl>
              <a:tblPr/>
              <a:tblGrid>
                <a:gridCol w="3777985">
                  <a:extLst>
                    <a:ext uri="{9D8B030D-6E8A-4147-A177-3AD203B41FA5}">
                      <a16:colId xmlns:a16="http://schemas.microsoft.com/office/drawing/2014/main" val="4167136766"/>
                    </a:ext>
                  </a:extLst>
                </a:gridCol>
                <a:gridCol w="3777985">
                  <a:extLst>
                    <a:ext uri="{9D8B030D-6E8A-4147-A177-3AD203B41FA5}">
                      <a16:colId xmlns:a16="http://schemas.microsoft.com/office/drawing/2014/main" val="1159402336"/>
                    </a:ext>
                  </a:extLst>
                </a:gridCol>
                <a:gridCol w="3777985">
                  <a:extLst>
                    <a:ext uri="{9D8B030D-6E8A-4147-A177-3AD203B41FA5}">
                      <a16:colId xmlns:a16="http://schemas.microsoft.com/office/drawing/2014/main" val="1293871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페이지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파일명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주요 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306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메인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1.mono.html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상품 목록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검색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카테고리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738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상품 상세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2.product.html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상품 정보와 옵션 선택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1935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장바구니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3.cart.html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상품 수량 및 삭제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794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주문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4.checkout.html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주문 정보 입력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6109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주문 완료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5.complete.html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주문 완료 안내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665138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9124" y="2898247"/>
            <a:ext cx="4216645" cy="1997828"/>
          </a:xfrm>
          <a:prstGeom prst="rect">
            <a:avLst/>
          </a:prstGeom>
          <a:solidFill>
            <a:srgbClr val="111111"/>
          </a:solidFill>
          <a:ln w="9525">
            <a:solidFill>
              <a:srgbClr val="5D4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19125" y="1026319"/>
            <a:ext cx="4216644" cy="1674628"/>
          </a:xfrm>
          <a:prstGeom prst="rect">
            <a:avLst/>
          </a:prstGeom>
          <a:solidFill>
            <a:srgbClr val="1D1A10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19123" y="5086302"/>
            <a:ext cx="4216646" cy="1749857"/>
          </a:xfrm>
          <a:prstGeom prst="rect">
            <a:avLst/>
          </a:prstGeom>
          <a:solidFill>
            <a:srgbClr val="111111"/>
          </a:solidFill>
          <a:ln w="9525">
            <a:solidFill>
              <a:srgbClr val="5D4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9125" y="466725"/>
            <a:ext cx="1710405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ko-KR" altLang="en-US" sz="2100" b="1" dirty="0" smtClean="0">
                <a:solidFill>
                  <a:srgbClr val="FFFFFF"/>
                </a:solidFill>
                <a:latin typeface="Cinzel"/>
              </a:rPr>
              <a:t>핵심기능 소개</a:t>
            </a:r>
            <a:endParaRPr sz="2100" b="1" i="0" u="none" dirty="0">
              <a:solidFill>
                <a:srgbClr val="FFFFFF"/>
              </a:solidFill>
              <a:latin typeface="Cinze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71335" y="542925"/>
            <a:ext cx="80310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D4AF37"/>
                </a:solidFill>
                <a:latin typeface="Noto Sans KR"/>
              </a:rPr>
              <a:t>04 / </a:t>
            </a:r>
            <a:r>
              <a:rPr lang="ko-KR" altLang="en-US" sz="1050" dirty="0" smtClean="0">
                <a:solidFill>
                  <a:srgbClr val="D4AF37"/>
                </a:solidFill>
                <a:latin typeface="Noto Sans KR"/>
              </a:rPr>
              <a:t>핵심기능</a:t>
            </a:r>
            <a:endParaRPr lang="en-US" altLang="ko-KR" sz="1050" dirty="0" smtClean="0">
              <a:solidFill>
                <a:srgbClr val="D4AF37"/>
              </a:solidFill>
              <a:latin typeface="Noto Sans K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0229" y="1223619"/>
            <a:ext cx="68362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</a:rPr>
              <a:t>01</a:t>
            </a:r>
            <a:r>
              <a:rPr lang="en-US" altLang="ko-KR" dirty="0" smtClean="0">
                <a:solidFill>
                  <a:schemeClr val="bg1"/>
                </a:solidFill>
              </a:rPr>
              <a:t>.</a:t>
            </a:r>
            <a:r>
              <a:rPr lang="ko-KR" altLang="en-US" dirty="0" smtClean="0">
                <a:solidFill>
                  <a:schemeClr val="bg1"/>
                </a:solidFill>
              </a:rPr>
              <a:t>상품 검색 및 카테고리</a:t>
            </a:r>
            <a:endParaRPr lang="en-US" altLang="ko-KR" dirty="0" smtClean="0">
              <a:solidFill>
                <a:schemeClr val="bg1"/>
              </a:solidFill>
            </a:endParaRPr>
          </a:p>
          <a:p>
            <a:endParaRPr lang="en-US" altLang="ko-KR" dirty="0" smtClean="0">
              <a:solidFill>
                <a:schemeClr val="bg1"/>
              </a:solidFill>
            </a:endParaRPr>
          </a:p>
          <a:p>
            <a:r>
              <a:rPr lang="en-US" altLang="ko-KR" dirty="0" smtClean="0">
                <a:solidFill>
                  <a:schemeClr val="bg1"/>
                </a:solidFill>
              </a:rPr>
              <a:t>(1)  </a:t>
            </a:r>
            <a:r>
              <a:rPr lang="ko-KR" altLang="en-US" dirty="0" err="1" smtClean="0">
                <a:solidFill>
                  <a:schemeClr val="bg1"/>
                </a:solidFill>
              </a:rPr>
              <a:t>검색어를</a:t>
            </a:r>
            <a:r>
              <a:rPr lang="ko-KR" altLang="en-US" dirty="0" smtClean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입력해 원하는 상품 탐색</a:t>
            </a:r>
          </a:p>
          <a:p>
            <a:r>
              <a:rPr lang="en-US" altLang="ko-KR" dirty="0" smtClean="0">
                <a:solidFill>
                  <a:schemeClr val="bg1"/>
                </a:solidFill>
              </a:rPr>
              <a:t>(2) </a:t>
            </a:r>
            <a:r>
              <a:rPr lang="ko-KR" altLang="en-US" dirty="0" err="1" smtClean="0">
                <a:solidFill>
                  <a:schemeClr val="bg1"/>
                </a:solidFill>
              </a:rPr>
              <a:t>카테고리별</a:t>
            </a:r>
            <a:r>
              <a:rPr lang="ko-KR" altLang="en-US" dirty="0" smtClean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상품 구분</a:t>
            </a:r>
          </a:p>
          <a:p>
            <a:r>
              <a:rPr lang="en-US" altLang="ko-KR" dirty="0" smtClean="0">
                <a:solidFill>
                  <a:schemeClr val="bg1"/>
                </a:solidFill>
              </a:rPr>
              <a:t>(3) </a:t>
            </a:r>
            <a:r>
              <a:rPr lang="ko-KR" altLang="en-US" dirty="0" smtClean="0">
                <a:solidFill>
                  <a:schemeClr val="bg1"/>
                </a:solidFill>
              </a:rPr>
              <a:t>상품 </a:t>
            </a:r>
            <a:r>
              <a:rPr lang="ko-KR" altLang="en-US" dirty="0">
                <a:solidFill>
                  <a:schemeClr val="bg1"/>
                </a:solidFill>
              </a:rPr>
              <a:t>목록 확인</a:t>
            </a:r>
          </a:p>
          <a:p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9125" y="2898247"/>
            <a:ext cx="42166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02. </a:t>
            </a:r>
            <a:r>
              <a:rPr lang="ko-KR" altLang="en-US" b="1" dirty="0">
                <a:solidFill>
                  <a:schemeClr val="bg1"/>
                </a:solidFill>
              </a:rPr>
              <a:t>장바구니</a:t>
            </a:r>
            <a:endParaRPr lang="ko-KR" altLang="en-US" dirty="0">
              <a:solidFill>
                <a:schemeClr val="bg1"/>
              </a:solidFill>
            </a:endParaRPr>
          </a:p>
          <a:p>
            <a:endParaRPr lang="en-US" altLang="ko-KR" dirty="0" smtClean="0">
              <a:solidFill>
                <a:schemeClr val="bg1"/>
              </a:solidFill>
            </a:endParaRPr>
          </a:p>
          <a:p>
            <a:r>
              <a:rPr lang="en-US" altLang="ko-KR" dirty="0" smtClean="0">
                <a:solidFill>
                  <a:schemeClr val="bg1"/>
                </a:solidFill>
              </a:rPr>
              <a:t>(1) </a:t>
            </a:r>
            <a:r>
              <a:rPr lang="ko-KR" altLang="en-US" dirty="0" smtClean="0">
                <a:solidFill>
                  <a:schemeClr val="bg1"/>
                </a:solidFill>
              </a:rPr>
              <a:t>상품 </a:t>
            </a:r>
            <a:r>
              <a:rPr lang="ko-KR" altLang="en-US" dirty="0">
                <a:solidFill>
                  <a:schemeClr val="bg1"/>
                </a:solidFill>
              </a:rPr>
              <a:t>장바구니 추가</a:t>
            </a:r>
          </a:p>
          <a:p>
            <a:r>
              <a:rPr lang="en-US" altLang="ko-KR" dirty="0" smtClean="0">
                <a:solidFill>
                  <a:schemeClr val="bg1"/>
                </a:solidFill>
              </a:rPr>
              <a:t>(2) </a:t>
            </a:r>
            <a:r>
              <a:rPr lang="ko-KR" altLang="en-US" dirty="0" smtClean="0">
                <a:solidFill>
                  <a:schemeClr val="bg1"/>
                </a:solidFill>
              </a:rPr>
              <a:t>상품 </a:t>
            </a:r>
            <a:r>
              <a:rPr lang="ko-KR" altLang="en-US" dirty="0">
                <a:solidFill>
                  <a:schemeClr val="bg1"/>
                </a:solidFill>
              </a:rPr>
              <a:t>수량 변경</a:t>
            </a:r>
          </a:p>
          <a:p>
            <a:r>
              <a:rPr lang="en-US" altLang="ko-KR" dirty="0" smtClean="0">
                <a:solidFill>
                  <a:schemeClr val="bg1"/>
                </a:solidFill>
              </a:rPr>
              <a:t>(3)</a:t>
            </a:r>
            <a:r>
              <a:rPr lang="ko-KR" altLang="en-US" dirty="0" smtClean="0">
                <a:solidFill>
                  <a:schemeClr val="bg1"/>
                </a:solidFill>
              </a:rPr>
              <a:t>상품 </a:t>
            </a:r>
            <a:r>
              <a:rPr lang="ko-KR" altLang="en-US" dirty="0">
                <a:solidFill>
                  <a:schemeClr val="bg1"/>
                </a:solidFill>
              </a:rPr>
              <a:t>삭제</a:t>
            </a:r>
          </a:p>
          <a:p>
            <a:r>
              <a:rPr lang="en-US" altLang="ko-KR" dirty="0" smtClean="0">
                <a:solidFill>
                  <a:schemeClr val="bg1"/>
                </a:solidFill>
              </a:rPr>
              <a:t>(4)</a:t>
            </a:r>
            <a:r>
              <a:rPr lang="ko-KR" altLang="en-US" dirty="0" smtClean="0">
                <a:solidFill>
                  <a:schemeClr val="bg1"/>
                </a:solidFill>
              </a:rPr>
              <a:t>총 </a:t>
            </a:r>
            <a:r>
              <a:rPr lang="ko-KR" altLang="en-US" dirty="0">
                <a:solidFill>
                  <a:schemeClr val="bg1"/>
                </a:solidFill>
              </a:rPr>
              <a:t>상품 금액 계산</a:t>
            </a:r>
          </a:p>
          <a:p>
            <a:r>
              <a:rPr lang="en-US" altLang="ko-KR" dirty="0" smtClean="0">
                <a:solidFill>
                  <a:schemeClr val="bg1"/>
                </a:solidFill>
              </a:rPr>
              <a:t>(5)</a:t>
            </a:r>
            <a:r>
              <a:rPr lang="ko-KR" altLang="en-US" dirty="0" smtClean="0">
                <a:solidFill>
                  <a:schemeClr val="bg1"/>
                </a:solidFill>
              </a:rPr>
              <a:t>장바구니 </a:t>
            </a:r>
            <a:r>
              <a:rPr lang="ko-KR" altLang="en-US" dirty="0">
                <a:solidFill>
                  <a:schemeClr val="bg1"/>
                </a:solidFill>
              </a:rPr>
              <a:t>정보 저장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169" y="5081833"/>
            <a:ext cx="7823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03. </a:t>
            </a:r>
            <a:r>
              <a:rPr lang="ko-KR" altLang="en-US" b="1" dirty="0">
                <a:solidFill>
                  <a:schemeClr val="bg1"/>
                </a:solidFill>
              </a:rPr>
              <a:t>연습용 주문</a:t>
            </a:r>
            <a:endParaRPr lang="ko-KR" altLang="en-US" dirty="0">
              <a:solidFill>
                <a:schemeClr val="bg1"/>
              </a:solidFill>
            </a:endParaRPr>
          </a:p>
          <a:p>
            <a:endParaRPr lang="en-US" altLang="ko-KR" dirty="0" smtClean="0">
              <a:solidFill>
                <a:schemeClr val="bg1"/>
              </a:solidFill>
            </a:endParaRPr>
          </a:p>
          <a:p>
            <a:r>
              <a:rPr lang="en-US" altLang="ko-KR" dirty="0" smtClean="0">
                <a:solidFill>
                  <a:schemeClr val="bg1"/>
                </a:solidFill>
              </a:rPr>
              <a:t>(1) </a:t>
            </a:r>
            <a:r>
              <a:rPr lang="ko-KR" altLang="en-US" dirty="0" smtClean="0">
                <a:solidFill>
                  <a:schemeClr val="bg1"/>
                </a:solidFill>
              </a:rPr>
              <a:t>주문 </a:t>
            </a:r>
            <a:r>
              <a:rPr lang="ko-KR" altLang="en-US" dirty="0">
                <a:solidFill>
                  <a:schemeClr val="bg1"/>
                </a:solidFill>
              </a:rPr>
              <a:t>정보 입력</a:t>
            </a:r>
          </a:p>
          <a:p>
            <a:r>
              <a:rPr lang="en-US" altLang="ko-KR" dirty="0" smtClean="0">
                <a:solidFill>
                  <a:schemeClr val="bg1"/>
                </a:solidFill>
              </a:rPr>
              <a:t>(2) </a:t>
            </a:r>
            <a:r>
              <a:rPr lang="ko-KR" altLang="en-US" dirty="0" smtClean="0">
                <a:solidFill>
                  <a:schemeClr val="bg1"/>
                </a:solidFill>
              </a:rPr>
              <a:t>주문 </a:t>
            </a:r>
            <a:r>
              <a:rPr lang="ko-KR" altLang="en-US" dirty="0">
                <a:solidFill>
                  <a:schemeClr val="bg1"/>
                </a:solidFill>
              </a:rPr>
              <a:t>진행</a:t>
            </a:r>
          </a:p>
          <a:p>
            <a:r>
              <a:rPr lang="en-US" altLang="ko-KR" dirty="0" smtClean="0">
                <a:solidFill>
                  <a:schemeClr val="bg1"/>
                </a:solidFill>
              </a:rPr>
              <a:t>(3) </a:t>
            </a:r>
            <a:r>
              <a:rPr lang="ko-KR" altLang="en-US" dirty="0" smtClean="0">
                <a:solidFill>
                  <a:schemeClr val="bg1"/>
                </a:solidFill>
              </a:rPr>
              <a:t>주문 </a:t>
            </a:r>
            <a:r>
              <a:rPr lang="ko-KR" altLang="en-US" dirty="0">
                <a:solidFill>
                  <a:schemeClr val="bg1"/>
                </a:solidFill>
              </a:rPr>
              <a:t>완료 화면 이동</a:t>
            </a:r>
          </a:p>
          <a:p>
            <a:r>
              <a:rPr lang="en-US" altLang="ko-KR" dirty="0" smtClean="0">
                <a:solidFill>
                  <a:schemeClr val="bg1"/>
                </a:solidFill>
              </a:rPr>
              <a:t>(4) </a:t>
            </a:r>
            <a:r>
              <a:rPr lang="ko-KR" altLang="en-US" dirty="0" smtClean="0">
                <a:solidFill>
                  <a:schemeClr val="bg1"/>
                </a:solidFill>
              </a:rPr>
              <a:t>주문 </a:t>
            </a:r>
            <a:r>
              <a:rPr lang="ko-KR" altLang="en-US" dirty="0">
                <a:solidFill>
                  <a:schemeClr val="bg1"/>
                </a:solidFill>
              </a:rPr>
              <a:t>후 장바구니 초기화</a:t>
            </a:r>
          </a:p>
          <a:p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285" y="1026319"/>
            <a:ext cx="6119446" cy="5809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01601" y="98656"/>
            <a:ext cx="2802049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ko-KR" altLang="en-US" sz="2100" b="1" dirty="0" smtClean="0">
                <a:solidFill>
                  <a:srgbClr val="FFFFFF"/>
                </a:solidFill>
                <a:latin typeface="Cinzel"/>
              </a:rPr>
              <a:t>사용 기술 및 구현 내용</a:t>
            </a:r>
            <a:endParaRPr sz="2100" b="1" i="0" u="none" dirty="0">
              <a:solidFill>
                <a:srgbClr val="FFFFFF"/>
              </a:solidFill>
              <a:latin typeface="Cinze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25041" y="390525"/>
            <a:ext cx="96661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dirty="0" smtClean="0">
                <a:solidFill>
                  <a:srgbClr val="D4AF37"/>
                </a:solidFill>
                <a:latin typeface="Noto Sans KR"/>
              </a:rPr>
              <a:t>5/</a:t>
            </a:r>
            <a:r>
              <a:rPr lang="ko-KR" altLang="en-US" sz="1050" dirty="0" smtClean="0">
                <a:solidFill>
                  <a:srgbClr val="D4AF37"/>
                </a:solidFill>
                <a:latin typeface="Noto Sans KR"/>
              </a:rPr>
              <a:t>웹사이트 구조</a:t>
            </a:r>
            <a:endParaRPr sz="1050" b="0" i="0" u="none" dirty="0">
              <a:solidFill>
                <a:srgbClr val="D4AF37"/>
              </a:solidFill>
              <a:latin typeface="Noto Sans KR"/>
            </a:endParaRPr>
          </a:p>
        </p:txBody>
      </p:sp>
      <p:sp>
        <p:nvSpPr>
          <p:cNvPr id="19" name="Rectangle 2"/>
          <p:cNvSpPr/>
          <p:nvPr/>
        </p:nvSpPr>
        <p:spPr>
          <a:xfrm>
            <a:off x="101601" y="552108"/>
            <a:ext cx="5297714" cy="1586252"/>
          </a:xfrm>
          <a:prstGeom prst="rect">
            <a:avLst/>
          </a:prstGeom>
          <a:solidFill>
            <a:srgbClr val="1D1A10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bg1"/>
                </a:solidFill>
              </a:rPr>
              <a:t>HTML – </a:t>
            </a:r>
            <a:r>
              <a:rPr lang="ko-KR" altLang="en-US" b="1" dirty="0">
                <a:solidFill>
                  <a:schemeClr val="bg1"/>
                </a:solidFill>
              </a:rPr>
              <a:t>웹사이트 </a:t>
            </a:r>
            <a:r>
              <a:rPr lang="ko-KR" altLang="en-US" b="1" dirty="0" smtClean="0">
                <a:solidFill>
                  <a:schemeClr val="bg1"/>
                </a:solidFill>
              </a:rPr>
              <a:t>구조</a:t>
            </a:r>
            <a:endParaRPr lang="en-US" altLang="ko-KR" b="1" dirty="0" smtClean="0">
              <a:solidFill>
                <a:schemeClr val="bg1"/>
              </a:solidFill>
            </a:endParaRPr>
          </a:p>
          <a:p>
            <a:endParaRPr lang="ko-KR" altLang="en-US" dirty="0">
              <a:solidFill>
                <a:schemeClr val="bg1"/>
              </a:solidFill>
            </a:endParaRPr>
          </a:p>
          <a:p>
            <a:r>
              <a:rPr lang="en-US" altLang="ko-KR" dirty="0" smtClean="0">
                <a:solidFill>
                  <a:schemeClr val="bg1"/>
                </a:solidFill>
              </a:rPr>
              <a:t>(1) </a:t>
            </a:r>
            <a:r>
              <a:rPr lang="ko-KR" altLang="en-US" dirty="0" smtClean="0">
                <a:solidFill>
                  <a:schemeClr val="bg1"/>
                </a:solidFill>
              </a:rPr>
              <a:t>메인 </a:t>
            </a:r>
            <a:r>
              <a:rPr lang="ko-KR" altLang="en-US" dirty="0">
                <a:solidFill>
                  <a:schemeClr val="bg1"/>
                </a:solidFill>
              </a:rPr>
              <a:t>화면과 상품 영역 구성</a:t>
            </a:r>
          </a:p>
          <a:p>
            <a:r>
              <a:rPr lang="en-US" altLang="ko-KR" dirty="0" smtClean="0">
                <a:solidFill>
                  <a:schemeClr val="bg1"/>
                </a:solidFill>
              </a:rPr>
              <a:t>(2) </a:t>
            </a:r>
            <a:r>
              <a:rPr lang="ko-KR" altLang="en-US" dirty="0" err="1" smtClean="0">
                <a:solidFill>
                  <a:schemeClr val="bg1"/>
                </a:solidFill>
              </a:rPr>
              <a:t>페이지별</a:t>
            </a:r>
            <a:r>
              <a:rPr lang="ko-KR" altLang="en-US" dirty="0" smtClean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콘텐츠 구성</a:t>
            </a:r>
          </a:p>
          <a:p>
            <a:r>
              <a:rPr lang="en-US" altLang="ko-KR" dirty="0" smtClean="0">
                <a:solidFill>
                  <a:schemeClr val="bg1"/>
                </a:solidFill>
              </a:rPr>
              <a:t>(3)</a:t>
            </a:r>
            <a:r>
              <a:rPr lang="ko-KR" altLang="en-US" dirty="0" smtClean="0">
                <a:solidFill>
                  <a:schemeClr val="bg1"/>
                </a:solidFill>
              </a:rPr>
              <a:t>장바구니와 </a:t>
            </a:r>
            <a:r>
              <a:rPr lang="ko-KR" altLang="en-US" dirty="0">
                <a:solidFill>
                  <a:schemeClr val="bg1"/>
                </a:solidFill>
              </a:rPr>
              <a:t>주문 입력 화면 구성</a:t>
            </a:r>
          </a:p>
        </p:txBody>
      </p:sp>
      <p:sp>
        <p:nvSpPr>
          <p:cNvPr id="20" name="Rectangle 2"/>
          <p:cNvSpPr/>
          <p:nvPr/>
        </p:nvSpPr>
        <p:spPr>
          <a:xfrm>
            <a:off x="101601" y="2268647"/>
            <a:ext cx="5297714" cy="1586252"/>
          </a:xfrm>
          <a:prstGeom prst="rect">
            <a:avLst/>
          </a:prstGeom>
          <a:solidFill>
            <a:srgbClr val="1D1A10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 smtClean="0"/>
              <a:t>CSS </a:t>
            </a:r>
            <a:r>
              <a:rPr lang="en-US" altLang="ko-KR" b="1" dirty="0"/>
              <a:t>– </a:t>
            </a:r>
            <a:r>
              <a:rPr lang="ko-KR" altLang="en-US" b="1" dirty="0"/>
              <a:t>디자인 및 화면 </a:t>
            </a:r>
            <a:r>
              <a:rPr lang="ko-KR" altLang="en-US" b="1" dirty="0" smtClean="0"/>
              <a:t>배치</a:t>
            </a:r>
            <a:endParaRPr lang="en-US" altLang="ko-KR" b="1" dirty="0" smtClean="0"/>
          </a:p>
          <a:p>
            <a:endParaRPr lang="ko-KR" altLang="en-US" dirty="0"/>
          </a:p>
          <a:p>
            <a:r>
              <a:rPr lang="en-US" altLang="ko-KR" dirty="0" smtClean="0"/>
              <a:t>(1) </a:t>
            </a:r>
            <a:r>
              <a:rPr lang="ko-KR" altLang="en-US" dirty="0" smtClean="0"/>
              <a:t>검정색과 </a:t>
            </a:r>
            <a:r>
              <a:rPr lang="ko-KR" altLang="en-US" dirty="0"/>
              <a:t>골드 컬러를 활용한 브랜드 디자인</a:t>
            </a:r>
          </a:p>
          <a:p>
            <a:r>
              <a:rPr lang="en-US" altLang="ko-KR" dirty="0" smtClean="0"/>
              <a:t>(2) </a:t>
            </a:r>
            <a:r>
              <a:rPr lang="ko-KR" altLang="en-US" dirty="0" smtClean="0"/>
              <a:t>상품 </a:t>
            </a:r>
            <a:r>
              <a:rPr lang="ko-KR" altLang="en-US" dirty="0"/>
              <a:t>카드와 메뉴 디자인</a:t>
            </a:r>
          </a:p>
          <a:p>
            <a:r>
              <a:rPr lang="en-US" altLang="ko-KR" dirty="0" smtClean="0"/>
              <a:t>(3) </a:t>
            </a:r>
            <a:r>
              <a:rPr lang="ko-KR" altLang="en-US" dirty="0" smtClean="0"/>
              <a:t>화면 </a:t>
            </a:r>
            <a:r>
              <a:rPr lang="ko-KR" altLang="en-US" dirty="0"/>
              <a:t>크기에 대응하는 </a:t>
            </a:r>
            <a:r>
              <a:rPr lang="ko-KR" altLang="en-US" dirty="0" err="1"/>
              <a:t>반응형</a:t>
            </a:r>
            <a:r>
              <a:rPr lang="ko-KR" altLang="en-US" dirty="0"/>
              <a:t> 레이아웃</a:t>
            </a:r>
          </a:p>
          <a:p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2" name="Rectangle 2"/>
          <p:cNvSpPr/>
          <p:nvPr/>
        </p:nvSpPr>
        <p:spPr>
          <a:xfrm>
            <a:off x="101601" y="3985186"/>
            <a:ext cx="5297714" cy="1586252"/>
          </a:xfrm>
          <a:prstGeom prst="rect">
            <a:avLst/>
          </a:prstGeom>
          <a:solidFill>
            <a:srgbClr val="1D1A10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/>
              <a:t>JavaScript – </a:t>
            </a:r>
            <a:r>
              <a:rPr lang="ko-KR" altLang="en-US" b="1" dirty="0"/>
              <a:t>기능 </a:t>
            </a:r>
            <a:r>
              <a:rPr lang="ko-KR" altLang="en-US" b="1" dirty="0" smtClean="0"/>
              <a:t>구현</a:t>
            </a:r>
            <a:endParaRPr lang="en-US" altLang="ko-KR" b="1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(1) </a:t>
            </a:r>
            <a:r>
              <a:rPr lang="ko-KR" altLang="en-US" dirty="0" smtClean="0"/>
              <a:t>상품 </a:t>
            </a:r>
            <a:r>
              <a:rPr lang="ko-KR" altLang="en-US" dirty="0"/>
              <a:t>검색 및 카테고리 필터</a:t>
            </a:r>
          </a:p>
          <a:p>
            <a:r>
              <a:rPr lang="en-US" altLang="ko-KR" dirty="0" smtClean="0"/>
              <a:t>(2) </a:t>
            </a:r>
            <a:r>
              <a:rPr lang="ko-KR" altLang="en-US" dirty="0" smtClean="0"/>
              <a:t>상품 </a:t>
            </a:r>
            <a:r>
              <a:rPr lang="ko-KR" altLang="en-US" dirty="0"/>
              <a:t>상세 정보 처리</a:t>
            </a:r>
          </a:p>
          <a:p>
            <a:r>
              <a:rPr lang="en-US" altLang="ko-KR" dirty="0" smtClean="0"/>
              <a:t>(3) </a:t>
            </a:r>
            <a:r>
              <a:rPr lang="ko-KR" altLang="en-US" dirty="0" smtClean="0"/>
              <a:t>장바구니 </a:t>
            </a:r>
            <a:r>
              <a:rPr lang="ko-KR" altLang="en-US" dirty="0"/>
              <a:t>추가</a:t>
            </a:r>
            <a:r>
              <a:rPr lang="en-US" altLang="ko-KR" dirty="0"/>
              <a:t>, </a:t>
            </a:r>
            <a:r>
              <a:rPr lang="ko-KR" altLang="en-US" dirty="0"/>
              <a:t>삭제</a:t>
            </a:r>
            <a:r>
              <a:rPr lang="en-US" altLang="ko-KR" dirty="0"/>
              <a:t>, </a:t>
            </a:r>
            <a:r>
              <a:rPr lang="ko-KR" altLang="en-US" dirty="0"/>
              <a:t>수량 변경</a:t>
            </a:r>
          </a:p>
          <a:p>
            <a:r>
              <a:rPr lang="en-US" altLang="ko-KR" dirty="0" smtClean="0"/>
              <a:t>(4) </a:t>
            </a:r>
            <a:r>
              <a:rPr lang="ko-KR" altLang="en-US" dirty="0" smtClean="0"/>
              <a:t>주문 </a:t>
            </a:r>
            <a:r>
              <a:rPr lang="ko-KR" altLang="en-US" dirty="0"/>
              <a:t>과정 처리</a:t>
            </a:r>
          </a:p>
        </p:txBody>
      </p:sp>
      <p:sp>
        <p:nvSpPr>
          <p:cNvPr id="23" name="Rectangle 2"/>
          <p:cNvSpPr/>
          <p:nvPr/>
        </p:nvSpPr>
        <p:spPr>
          <a:xfrm>
            <a:off x="101601" y="5701724"/>
            <a:ext cx="5297714" cy="902275"/>
          </a:xfrm>
          <a:prstGeom prst="rect">
            <a:avLst/>
          </a:prstGeom>
          <a:solidFill>
            <a:srgbClr val="1D1A10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 err="1"/>
              <a:t>localStorage</a:t>
            </a:r>
            <a:r>
              <a:rPr lang="en-US" altLang="ko-KR" b="1" dirty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데이터 유지</a:t>
            </a:r>
            <a:r>
              <a:rPr lang="en-US" altLang="ko-KR" b="1" dirty="0" smtClean="0"/>
              <a:t>)– </a:t>
            </a:r>
            <a:r>
              <a:rPr lang="ko-KR" altLang="en-US" b="1" dirty="0"/>
              <a:t>브라우저 저장 </a:t>
            </a:r>
            <a:r>
              <a:rPr lang="ko-KR" altLang="en-US" b="1" dirty="0" smtClean="0"/>
              <a:t>기능</a:t>
            </a:r>
            <a:endParaRPr lang="ko-KR" altLang="en-US" dirty="0"/>
          </a:p>
          <a:p>
            <a:r>
              <a:rPr lang="ko-KR" altLang="en-US" dirty="0"/>
              <a:t>장바구니 데이터를 브라우저에 저장</a:t>
            </a:r>
          </a:p>
          <a:p>
            <a:r>
              <a:rPr lang="ko-KR" altLang="en-US" dirty="0"/>
              <a:t>페이지 이동 후에도 장바구니 정보 유지</a:t>
            </a: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714" y="914400"/>
            <a:ext cx="6386285" cy="54768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2"/>
          <p:cNvSpPr/>
          <p:nvPr/>
        </p:nvSpPr>
        <p:spPr>
          <a:xfrm>
            <a:off x="29029" y="18143"/>
            <a:ext cx="9114971" cy="3410857"/>
          </a:xfrm>
          <a:prstGeom prst="rect">
            <a:avLst/>
          </a:prstGeom>
          <a:solidFill>
            <a:srgbClr val="1D1A10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2"/>
          <p:cNvSpPr/>
          <p:nvPr/>
        </p:nvSpPr>
        <p:spPr>
          <a:xfrm>
            <a:off x="0" y="3633973"/>
            <a:ext cx="12192000" cy="3080657"/>
          </a:xfrm>
          <a:prstGeom prst="rect">
            <a:avLst/>
          </a:prstGeom>
          <a:solidFill>
            <a:srgbClr val="1D1A10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3635828"/>
            <a:ext cx="867416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문제 해결 사례: 페이지 이동 오류</a:t>
            </a: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문제:</a:t>
            </a:r>
            <a:br>
              <a:rPr kumimoji="0" lang="ko-KR" altLang="ko-K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페이지 사이에서 링크를 눌러도 다음 화면으로 이동하지 않는 문제가 발생했습니다.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원인:</a:t>
            </a:r>
            <a:br>
              <a:rPr kumimoji="0" lang="ko-KR" altLang="ko-K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실제 파일명과 HTML 및 </a:t>
            </a:r>
            <a:r>
              <a:rPr kumimoji="0" lang="ko-KR" altLang="ko-KR" sz="18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JavaScript에</a:t>
            </a:r>
            <a:r>
              <a:rPr kumimoji="0" lang="ko-KR" altLang="ko-K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작성된 이동 경로가 일치하지 않았습니다.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해결:</a:t>
            </a:r>
            <a:br>
              <a:rPr kumimoji="0" lang="ko-KR" altLang="ko-K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실제 파일명인 </a:t>
            </a:r>
            <a:r>
              <a:rPr kumimoji="0" lang="ko-KR" altLang="ko-KR" sz="15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1.mono.html</a:t>
            </a:r>
            <a:r>
              <a:rPr kumimoji="0" lang="ko-KR" altLang="ko-KR" sz="15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, </a:t>
            </a:r>
            <a:r>
              <a:rPr kumimoji="0" lang="ko-KR" altLang="ko-KR" sz="15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2.product.html</a:t>
            </a:r>
            <a:r>
              <a:rPr kumimoji="0" lang="ko-KR" altLang="ko-KR" sz="15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등과 링크 경로를 일치시켰습니다.</a:t>
            </a:r>
            <a:endParaRPr kumimoji="0" lang="ko-KR" altLang="ko-KR" sz="15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확인:</a:t>
            </a:r>
            <a:br>
              <a:rPr kumimoji="0" lang="ko-KR" altLang="ko-K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브라우저에서 각 페이지를 직접 이동하며 정상 작동 여부를 확인했습니다.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0" y="116094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AI </a:t>
            </a:r>
            <a:r>
              <a:rPr lang="ko-KR" altLang="en-US" b="1" dirty="0">
                <a:solidFill>
                  <a:schemeClr val="bg1"/>
                </a:solidFill>
              </a:rPr>
              <a:t>활용</a:t>
            </a:r>
            <a:endParaRPr lang="ko-KR" altLang="en-US" dirty="0">
              <a:solidFill>
                <a:schemeClr val="bg1"/>
              </a:solidFill>
            </a:endParaRPr>
          </a:p>
          <a:p>
            <a:r>
              <a:rPr lang="en-US" altLang="ko-KR" dirty="0">
                <a:solidFill>
                  <a:schemeClr val="bg1"/>
                </a:solidFill>
              </a:rPr>
              <a:t>AI</a:t>
            </a:r>
            <a:r>
              <a:rPr lang="ko-KR" altLang="en-US" dirty="0">
                <a:solidFill>
                  <a:schemeClr val="bg1"/>
                </a:solidFill>
              </a:rPr>
              <a:t>를 활용해 다음 작업을 진행했습니다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HTML, CSS, JavaScript </a:t>
            </a:r>
            <a:r>
              <a:rPr lang="ko-KR" altLang="en-US" dirty="0">
                <a:solidFill>
                  <a:schemeClr val="bg1"/>
                </a:solidFill>
              </a:rPr>
              <a:t>코드 작성 보조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기능 구현 방법과 오류 원인 확인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디자인 개선 아이디어 참고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코드 수정 및 초보자 기준 설명 확인</a:t>
            </a:r>
          </a:p>
          <a:p>
            <a:r>
              <a:rPr lang="ko-KR" altLang="en-US" b="1" dirty="0">
                <a:solidFill>
                  <a:schemeClr val="bg1"/>
                </a:solidFill>
              </a:rPr>
              <a:t>직접 판단하고 수정한 내용</a:t>
            </a:r>
            <a:endParaRPr lang="ko-KR" alt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MONO </a:t>
            </a:r>
            <a:r>
              <a:rPr lang="ko-KR" altLang="en-US" dirty="0">
                <a:solidFill>
                  <a:schemeClr val="bg1"/>
                </a:solidFill>
              </a:rPr>
              <a:t>브랜드 이름과 콘셉트 결정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검정색과 골드 중심의 디자인 선택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상품 이미지와 카테고리 구성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실제 프로젝트 파일명과 이미지 경로 확인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브라우저에서 기능을 직접 테스트</a:t>
            </a:r>
          </a:p>
        </p:txBody>
      </p:sp>
    </p:spTree>
    <p:extLst>
      <p:ext uri="{BB962C8B-B14F-4D97-AF65-F5344CB8AC3E}">
        <p14:creationId xmlns:p14="http://schemas.microsoft.com/office/powerpoint/2010/main" val="1617404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/>
          <p:nvPr/>
        </p:nvSpPr>
        <p:spPr>
          <a:xfrm>
            <a:off x="0" y="0"/>
            <a:ext cx="12192000" cy="6975888"/>
          </a:xfrm>
          <a:prstGeom prst="rect">
            <a:avLst/>
          </a:prstGeom>
          <a:solidFill>
            <a:srgbClr val="1D1A10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/>
              <a:t>프로젝트를 통해 배운 </a:t>
            </a:r>
            <a:r>
              <a:rPr lang="ko-KR" altLang="en-US" b="1" dirty="0" smtClean="0"/>
              <a:t>점</a:t>
            </a:r>
            <a:endParaRPr lang="en-US" altLang="ko-KR" b="1" dirty="0" smtClean="0"/>
          </a:p>
          <a:p>
            <a:endParaRPr lang="ko-KR" altLang="en-US" dirty="0"/>
          </a:p>
          <a:p>
            <a:r>
              <a:rPr lang="en-US" altLang="ko-KR" dirty="0"/>
              <a:t>HTML</a:t>
            </a:r>
            <a:r>
              <a:rPr lang="ko-KR" altLang="en-US" dirty="0"/>
              <a:t>을 이용한 </a:t>
            </a:r>
            <a:r>
              <a:rPr lang="ko-KR" altLang="en-US" dirty="0" err="1"/>
              <a:t>웹페이지</a:t>
            </a:r>
            <a:r>
              <a:rPr lang="ko-KR" altLang="en-US" dirty="0"/>
              <a:t> 구조 설계</a:t>
            </a:r>
          </a:p>
          <a:p>
            <a:r>
              <a:rPr lang="en-US" altLang="ko-KR" dirty="0"/>
              <a:t>CSS</a:t>
            </a:r>
            <a:r>
              <a:rPr lang="ko-KR" altLang="en-US" dirty="0"/>
              <a:t>를 이용한 디자인과 </a:t>
            </a:r>
            <a:r>
              <a:rPr lang="ko-KR" altLang="en-US" dirty="0" err="1"/>
              <a:t>반응형</a:t>
            </a:r>
            <a:r>
              <a:rPr lang="ko-KR" altLang="en-US" dirty="0"/>
              <a:t> 화면 구성</a:t>
            </a:r>
          </a:p>
          <a:p>
            <a:r>
              <a:rPr lang="en-US" altLang="ko-KR" dirty="0"/>
              <a:t>JavaScript</a:t>
            </a:r>
            <a:r>
              <a:rPr lang="ko-KR" altLang="en-US" dirty="0"/>
              <a:t>를 이용한 사용자 상호작용</a:t>
            </a:r>
          </a:p>
          <a:p>
            <a:r>
              <a:rPr lang="ko-KR" altLang="en-US" dirty="0"/>
              <a:t>여러 페이지를 연결하는 방법</a:t>
            </a:r>
          </a:p>
          <a:p>
            <a:r>
              <a:rPr lang="ko-KR" altLang="en-US" dirty="0"/>
              <a:t>브라우저 저장 기능의 기본 개념</a:t>
            </a:r>
          </a:p>
          <a:p>
            <a:r>
              <a:rPr lang="ko-KR" altLang="en-US" dirty="0" smtClean="0"/>
              <a:t>오류를 </a:t>
            </a:r>
            <a:r>
              <a:rPr lang="ko-KR" altLang="en-US" dirty="0"/>
              <a:t>확인하고 수정하는 </a:t>
            </a:r>
            <a:r>
              <a:rPr lang="ko-KR" altLang="en-US" dirty="0" smtClean="0"/>
              <a:t>과정</a:t>
            </a:r>
            <a:endParaRPr lang="en-US" altLang="ko-KR" dirty="0" smtClean="0"/>
          </a:p>
          <a:p>
            <a:endParaRPr lang="ko-KR" altLang="en-US" dirty="0"/>
          </a:p>
          <a:p>
            <a:r>
              <a:rPr lang="ko-KR" altLang="en-US" b="1" dirty="0"/>
              <a:t>아쉬웠던 점</a:t>
            </a:r>
            <a:endParaRPr lang="ko-KR" altLang="en-US" dirty="0"/>
          </a:p>
          <a:p>
            <a:r>
              <a:rPr lang="ko-KR" altLang="en-US" dirty="0"/>
              <a:t>실제 서버와 데이터베이스를 연결하지 못한 </a:t>
            </a:r>
            <a:r>
              <a:rPr lang="ko-KR" altLang="en-US" smtClean="0"/>
              <a:t>점 </a:t>
            </a:r>
            <a:r>
              <a:rPr lang="ko-KR" altLang="en-US" smtClean="0"/>
              <a:t>그리고 코드를 </a:t>
            </a:r>
            <a:r>
              <a:rPr lang="ko-KR" altLang="en-US" dirty="0" smtClean="0"/>
              <a:t>쓰는 한계</a:t>
            </a:r>
            <a:r>
              <a:rPr lang="en-US" altLang="ko-KR" dirty="0" smtClean="0"/>
              <a:t>(</a:t>
            </a:r>
            <a:r>
              <a:rPr lang="ko-KR" altLang="en-US" dirty="0" smtClean="0"/>
              <a:t>공부 </a:t>
            </a:r>
            <a:r>
              <a:rPr lang="ko-KR" altLang="en-US" dirty="0" err="1" smtClean="0"/>
              <a:t>많이많이</a:t>
            </a:r>
            <a:r>
              <a:rPr lang="ko-KR" altLang="en-US" dirty="0" smtClean="0"/>
              <a:t> 필요</a:t>
            </a:r>
            <a:r>
              <a:rPr lang="en-US" altLang="ko-KR" dirty="0" smtClean="0"/>
              <a:t>!)</a:t>
            </a:r>
            <a:endParaRPr lang="ko-KR" altLang="en-US" dirty="0"/>
          </a:p>
          <a:p>
            <a:r>
              <a:rPr lang="ko-KR" altLang="en-US" dirty="0"/>
              <a:t>회원가입 및 로그인 기능이 없는 점</a:t>
            </a:r>
          </a:p>
          <a:p>
            <a:r>
              <a:rPr lang="ko-KR" altLang="en-US" dirty="0"/>
              <a:t>실제 결제 시스템을 구현하지 못한 점</a:t>
            </a:r>
          </a:p>
          <a:p>
            <a:endParaRPr lang="en-US" altLang="ko-KR" b="1" dirty="0" smtClean="0"/>
          </a:p>
          <a:p>
            <a:r>
              <a:rPr lang="ko-KR" altLang="en-US" b="1" dirty="0" smtClean="0"/>
              <a:t>향후 </a:t>
            </a:r>
            <a:r>
              <a:rPr lang="ko-KR" altLang="en-US" b="1" dirty="0"/>
              <a:t>개선 계획</a:t>
            </a:r>
            <a:endParaRPr lang="ko-KR" altLang="en-US" dirty="0"/>
          </a:p>
          <a:p>
            <a:r>
              <a:rPr lang="ko-KR" altLang="en-US" dirty="0"/>
              <a:t>데이터베이스를 활용한 상품 및 주문 정보 관리</a:t>
            </a:r>
          </a:p>
          <a:p>
            <a:r>
              <a:rPr lang="ko-KR" altLang="en-US" dirty="0"/>
              <a:t>회원가입과 로그인 기능 추가</a:t>
            </a:r>
          </a:p>
          <a:p>
            <a:r>
              <a:rPr lang="ko-KR" altLang="en-US" dirty="0"/>
              <a:t>실제 서버와 </a:t>
            </a:r>
            <a:r>
              <a:rPr lang="ko-KR" altLang="en-US" dirty="0" err="1"/>
              <a:t>프론트엔드</a:t>
            </a:r>
            <a:r>
              <a:rPr lang="ko-KR" altLang="en-US" dirty="0"/>
              <a:t> 연결</a:t>
            </a:r>
          </a:p>
          <a:p>
            <a:r>
              <a:rPr lang="ko-KR" altLang="en-US" dirty="0"/>
              <a:t>보안 및 결제 시스템 학습</a:t>
            </a:r>
          </a:p>
          <a:p>
            <a:endParaRPr lang="en-US" altLang="ko-KR" b="1" dirty="0" smtClean="0"/>
          </a:p>
          <a:p>
            <a:r>
              <a:rPr lang="ko-KR" altLang="en-US" b="1" dirty="0" smtClean="0"/>
              <a:t>마무리</a:t>
            </a:r>
            <a:endParaRPr lang="ko-KR" altLang="en-US" dirty="0"/>
          </a:p>
          <a:p>
            <a:r>
              <a:rPr lang="en-US" altLang="ko-KR" dirty="0"/>
              <a:t>MONO </a:t>
            </a:r>
            <a:r>
              <a:rPr lang="ko-KR" altLang="en-US" dirty="0"/>
              <a:t>프로젝트는 웹 개발을 처음 배우면서 </a:t>
            </a:r>
            <a:r>
              <a:rPr lang="en-US" altLang="ko-KR" dirty="0"/>
              <a:t>HTML, CSS, JavaScript</a:t>
            </a:r>
            <a:r>
              <a:rPr lang="ko-KR" altLang="en-US" dirty="0"/>
              <a:t>를 하나의 결과물로 연결해 본 첫 번째 쇼핑몰 프로젝트입니다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재미있어서 하나 </a:t>
            </a:r>
            <a:r>
              <a:rPr lang="ko-KR" altLang="en-US" dirty="0" err="1" smtClean="0"/>
              <a:t>두개씩</a:t>
            </a:r>
            <a:r>
              <a:rPr lang="ko-KR" altLang="en-US" dirty="0" smtClean="0"/>
              <a:t> 기능을 </a:t>
            </a:r>
            <a:r>
              <a:rPr lang="ko-KR" altLang="en-US" dirty="0" err="1" smtClean="0"/>
              <a:t>넣다보니깐</a:t>
            </a:r>
            <a:r>
              <a:rPr lang="ko-KR" altLang="en-US" dirty="0" smtClean="0"/>
              <a:t> 너무 많이 </a:t>
            </a:r>
            <a:r>
              <a:rPr lang="ko-KR" altLang="en-US" dirty="0" err="1" smtClean="0"/>
              <a:t>넣은건</a:t>
            </a:r>
            <a:r>
              <a:rPr lang="ko-KR" altLang="en-US" dirty="0" smtClean="0"/>
              <a:t> 아닌가 싶습니다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r>
              <a:rPr lang="ko-KR" altLang="en-US" dirty="0"/>
              <a:t>앞으로도 꾸준히 학습하며 실제 서비스를 개발할 수 있는 웹 개발자로 성장하고 싶습니다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oogle Shape;164;p19" descr="C:\Users\User\Desktop\컴퓨터-이미지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339" y="429626"/>
            <a:ext cx="5688632" cy="5275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6;p19" descr="C:\Users\User\Desktop\iPhone-X-Mockup2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69655" y="561510"/>
            <a:ext cx="2592288" cy="43576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532185" y="5547946"/>
            <a:ext cx="4703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solidFill>
                  <a:schemeClr val="bg1"/>
                </a:solidFill>
              </a:rPr>
              <a:t>깃허브</a:t>
            </a:r>
            <a:r>
              <a:rPr lang="en-US" altLang="ko-KR" dirty="0" smtClean="0">
                <a:solidFill>
                  <a:schemeClr val="bg1"/>
                </a:solidFill>
              </a:rPr>
              <a:t>:</a:t>
            </a:r>
            <a:r>
              <a:rPr lang="en-US" altLang="ko-KR" b="1" dirty="0"/>
              <a:t> </a:t>
            </a:r>
            <a:r>
              <a:rPr lang="en-US" altLang="ko-KR" b="1" u="sng" dirty="0">
                <a:hlinkClick r:id="rId5"/>
              </a:rPr>
              <a:t>https://ijoldeon.github.io/PROJECT-MONO-LUXURY/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347" y="773723"/>
            <a:ext cx="5143499" cy="303334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5459" y="1187046"/>
            <a:ext cx="1580679" cy="310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017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62187" y="2252662"/>
            <a:ext cx="7667625" cy="2352675"/>
          </a:xfrm>
          <a:prstGeom prst="rect">
            <a:avLst/>
          </a:prstGeom>
          <a:solidFill>
            <a:srgbClr val="0B0B0B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05500" y="3738562"/>
            <a:ext cx="381000" cy="952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22781" y="2719387"/>
            <a:ext cx="2746437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FFFFFF"/>
                </a:solidFill>
                <a:latin typeface="Cinze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812" y="3233737"/>
            <a:ext cx="30163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D4AF37"/>
                </a:solidFill>
                <a:latin typeface="Noto Sans KR"/>
              </a:rPr>
              <a:t>경험을 넘어 가치를 창조합니다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9513" y="3976687"/>
            <a:ext cx="432811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ko-KR" altLang="en-US" sz="1125" b="0" i="0" u="none" dirty="0" err="1" smtClean="0">
                <a:solidFill>
                  <a:srgbClr val="888888"/>
                </a:solidFill>
                <a:latin typeface="Noto Sans KR"/>
              </a:rPr>
              <a:t>이성전</a:t>
            </a:r>
            <a:endParaRPr sz="1125" b="0" i="0" u="none" dirty="0">
              <a:solidFill>
                <a:srgbClr val="888888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667</Words>
  <Application>Microsoft Office PowerPoint</Application>
  <PresentationFormat>와이드스크린</PresentationFormat>
  <Paragraphs>138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Noto Sans KR</vt:lpstr>
      <vt:lpstr>맑은 고딕</vt:lpstr>
      <vt:lpstr>Arial</vt:lpstr>
      <vt:lpstr>Cinzel</vt:lpstr>
      <vt:lpstr>Arial Unicode MS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it</cp:lastModifiedBy>
  <cp:revision>12</cp:revision>
  <dcterms:created xsi:type="dcterms:W3CDTF">2013-01-27T09:14:16Z</dcterms:created>
  <dcterms:modified xsi:type="dcterms:W3CDTF">2026-10-30T02:34:54Z</dcterms:modified>
  <cp:category/>
</cp:coreProperties>
</file>